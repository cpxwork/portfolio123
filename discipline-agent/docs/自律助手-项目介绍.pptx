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0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3977639"/>
          </a:xfrm>
          <a:prstGeom prst="roundRect">
            <a:avLst>
              <a:gd name="adj" fmla="val 10000"/>
            </a:avLst>
          </a:prstGeom>
          <a:solidFill>
            <a:srgbClr val="EA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6868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1005D"/>
                </a:solidFill>
                <a:latin typeface="微软雅黑"/>
              </a:rPr>
              <a:t>项目介绍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21005D"/>
                </a:solidFill>
                <a:latin typeface="微软雅黑"/>
              </a:rPr>
              <a:t>自律助手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21005D"/>
                </a:solidFill>
                <a:latin typeface="微软雅黑"/>
              </a:rPr>
              <a:t>从聊天里发现该做的事，按你现在的状态拆成小步，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21005D"/>
                </a:solidFill>
                <a:latin typeface="微软雅黑"/>
              </a:rPr>
              <a:t>不动就逐级升级 —— 全程可撤销、可审计。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89120"/>
            <a:ext cx="2468880" cy="1143000"/>
          </a:xfrm>
          <a:prstGeom prst="roundRect">
            <a:avLst>
              <a:gd name="adj" fmla="val 1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4599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六级强制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8737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750A4"/>
                </a:solidFill>
                <a:latin typeface="微软雅黑"/>
              </a:rPr>
              <a:t>L0 → L5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389120"/>
            <a:ext cx="2468880" cy="1143000"/>
          </a:xfrm>
          <a:prstGeom prst="roundRect">
            <a:avLst>
              <a:gd name="adj" fmla="val 1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4599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指令动作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48737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750A4"/>
                </a:solidFill>
                <a:latin typeface="微软雅黑"/>
              </a:rPr>
              <a:t>7 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2468880" cy="1143000"/>
          </a:xfrm>
          <a:prstGeom prst="roundRect">
            <a:avLst>
              <a:gd name="adj" fmla="val 1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4599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测试状态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48737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750A4"/>
                </a:solidFill>
                <a:latin typeface="微软雅黑"/>
              </a:rPr>
              <a:t>13 套全绿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4389120"/>
            <a:ext cx="2468880" cy="1143000"/>
          </a:xfrm>
          <a:prstGeom prst="roundRect">
            <a:avLst>
              <a:gd name="adj" fmla="val 1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4599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还原保证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48737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750A4"/>
                </a:solidFill>
                <a:latin typeface="微软雅黑"/>
              </a:rPr>
              <a:t>100% 可还原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陈鹏旭 · 产品与 AI 学习作品 · 2026-10-17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01 ·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该做的事，总是"知道"却不做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待办躺在聊天记录里；提醒弹出即被划掉；没有下一步，于是不动。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456432" cy="2011680"/>
          </a:xfrm>
          <a:prstGeom prst="roundRect">
            <a:avLst>
              <a:gd name="adj" fmla="val 13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241401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7D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提醒会疲劳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108960"/>
            <a:ext cx="29443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角标、弹窗、提示音——同一招用三次就免疫，用户学会无视。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148840"/>
            <a:ext cx="3456432" cy="2011680"/>
          </a:xfrm>
          <a:prstGeom prst="roundRect">
            <a:avLst>
              <a:gd name="adj" fmla="val 13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41401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7D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不知道下一步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29443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"写数学作业"太大，躺着的时候它不是一个能立刻开始的动作。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2148840"/>
            <a:ext cx="3456432" cy="2011680"/>
          </a:xfrm>
          <a:prstGeom prst="roundRect">
            <a:avLst>
              <a:gd name="adj" fmla="val 13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3" y="241401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7D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强制没有刹车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3108960"/>
            <a:ext cx="294436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真去动文件的做法，一旦出错就不可逆；用户不敢给权限。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80560"/>
            <a:ext cx="11082528" cy="1280160"/>
          </a:xfrm>
          <a:prstGeom prst="roundRect">
            <a:avLst>
              <a:gd name="adj" fmla="val 20000"/>
            </a:avLst>
          </a:prstGeom>
          <a:solidFill>
            <a:srgbClr val="EA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18304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21005D"/>
                </a:solidFill>
                <a:latin typeface="微软雅黑"/>
              </a:rPr>
              <a:t>我们要做的：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21005D"/>
                </a:solidFill>
                <a:latin typeface="微软雅黑"/>
              </a:rPr>
              <a:t>把"提醒"换成一条有起点、有下一步、失败会升级，但任何时刻都能一键收回的路径。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02 · 一句话说清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感知 → 判断 → 拆步 → 升级 → 执行 → 可还原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六个环节串成一个闭环；用户完成任意一步，全部强制状态立即撤销。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1691640" cy="2240280"/>
          </a:xfrm>
          <a:prstGeom prst="roundRect">
            <a:avLst>
              <a:gd name="adj" fmla="val 15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414016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151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90672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聊天记录
时间 / 活跃度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306324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2194560"/>
            <a:ext cx="1691640" cy="2240280"/>
          </a:xfrm>
          <a:prstGeom prst="roundRect">
            <a:avLst>
              <a:gd name="adj" fmla="val 15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88336" y="2414016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26151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3090672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该不该学
现在什么状态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306324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2194560"/>
            <a:ext cx="1691640" cy="2240280"/>
          </a:xfrm>
          <a:prstGeom prst="roundRect">
            <a:avLst>
              <a:gd name="adj" fmla="val 15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2414016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25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151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拆步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090672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≤7 步 · 每步 ≤3 分钟
从当前状态出发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06324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194560"/>
            <a:ext cx="1691640" cy="2240280"/>
          </a:xfrm>
          <a:prstGeom prst="roundRect">
            <a:avLst>
              <a:gd name="adj" fmla="val 15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5664" y="2414016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D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26151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升级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090672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L0 → L5
每级留真实间隔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306324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2194560"/>
            <a:ext cx="1691640" cy="2240280"/>
          </a:xfrm>
          <a:prstGeom prst="roundRect">
            <a:avLst>
              <a:gd name="adj" fmla="val 15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9327" y="2414016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D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26151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3090672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文件打乱 / 隔离
先写 manifest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7" y="306324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85248" y="2194560"/>
            <a:ext cx="1691640" cy="2240280"/>
          </a:xfrm>
          <a:prstGeom prst="roundRect">
            <a:avLst>
              <a:gd name="adj" fmla="val 15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22992" y="2414016"/>
            <a:ext cx="274320" cy="45720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2992" y="261518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B20"/>
                </a:solidFill>
                <a:latin typeface="微软雅黑"/>
              </a:rPr>
              <a:t>还原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3090672"/>
            <a:ext cx="148132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一键 revoke_all
逐字节校验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09160"/>
            <a:ext cx="11082528" cy="1051560"/>
          </a:xfrm>
          <a:prstGeom prst="roundRect">
            <a:avLst>
              <a:gd name="adj" fmla="val 20000"/>
            </a:avLst>
          </a:prstGeom>
          <a:solidFill>
            <a:srgbClr val="D7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9377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0F3D28"/>
                </a:solidFill>
                <a:latin typeface="微软雅黑"/>
              </a:rPr>
              <a:t>硬约束：任何一级用户完成该步 → 立即撤销全部强制状态；永不删除文件，只移动 / 重命名。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03 · 强制措施分级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L0 → L5：六级递进，越往后越难无视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每级之间必须留足真实等待时间，禁止连跳；单日强制上限 4 次，达到后当天降级为纯提醒。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11082528" cy="512064"/>
          </a:xfrm>
          <a:prstGeom prst="roundRect">
            <a:avLst>
              <a:gd name="adj" fmla="val 2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276856"/>
            <a:ext cx="50292" cy="25603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49424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750A4"/>
                </a:solidFill>
                <a:latin typeface="微软雅黑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26771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D1B20"/>
                </a:solidFill>
                <a:latin typeface="Consolas"/>
              </a:rPr>
              <a:t>notify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6771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轻提醒：角标 / 提示音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26771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前端渲染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52344"/>
            <a:ext cx="11082528" cy="512064"/>
          </a:xfrm>
          <a:prstGeom prst="roundRect">
            <a:avLst>
              <a:gd name="adj" fmla="val 28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" y="2880360"/>
            <a:ext cx="50292" cy="25603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5292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750A4"/>
                </a:solidFill>
                <a:latin typeface="微软雅黑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871216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D1B20"/>
                </a:solidFill>
                <a:latin typeface="Consolas"/>
              </a:rPr>
              <a:t>popup_countdown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7121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弹窗 + 倒计时 +「开始」按钮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87121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前端渲染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55848"/>
            <a:ext cx="11082528" cy="512064"/>
          </a:xfrm>
          <a:prstGeom prst="roundRect">
            <a:avLst>
              <a:gd name="adj" fmla="val 2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483864"/>
            <a:ext cx="50292" cy="256032"/>
          </a:xfrm>
          <a:prstGeom prst="roundRect">
            <a:avLst>
              <a:gd name="adj" fmla="val 50000"/>
            </a:avLst>
          </a:prstGeom>
          <a:solidFill>
            <a:srgbClr val="625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45643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25B71"/>
                </a:solidFill>
                <a:latin typeface="微软雅黑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474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D1B20"/>
                </a:solidFill>
                <a:latin typeface="Consolas"/>
              </a:rPr>
              <a:t>spawn_bugs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4747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满屏虫子，挡操作（带关闭倒计时）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25B71"/>
                </a:solidFill>
                <a:latin typeface="微软雅黑"/>
              </a:rPr>
              <a:t>前端渲染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59352"/>
            <a:ext cx="11082528" cy="512064"/>
          </a:xfrm>
          <a:prstGeom prst="roundRect">
            <a:avLst>
              <a:gd name="adj" fmla="val 28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4087368"/>
            <a:ext cx="50292" cy="256032"/>
          </a:xfrm>
          <a:prstGeom prst="roundRect">
            <a:avLst>
              <a:gd name="adj" fmla="val 50000"/>
            </a:avLst>
          </a:prstGeom>
          <a:solidFill>
            <a:srgbClr val="625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59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25B71"/>
                </a:solidFill>
                <a:latin typeface="微软雅黑"/>
              </a:rPr>
              <a:t>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407822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D1B20"/>
                </a:solidFill>
                <a:latin typeface="Consolas"/>
              </a:rPr>
              <a:t>screen_flash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07822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整机闪屏，强制回到桌面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07822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25B71"/>
                </a:solidFill>
                <a:latin typeface="微软雅黑"/>
              </a:rPr>
              <a:t>前端渲染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562856"/>
            <a:ext cx="11082528" cy="512064"/>
          </a:xfrm>
          <a:prstGeom prst="roundRect">
            <a:avLst>
              <a:gd name="adj" fmla="val 2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232" y="4690872"/>
            <a:ext cx="50292" cy="256032"/>
          </a:xfrm>
          <a:prstGeom prst="roundRect">
            <a:avLst>
              <a:gd name="adj" fmla="val 50000"/>
            </a:avLst>
          </a:prstGeom>
          <a:solidFill>
            <a:srgbClr val="7D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66344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7D5260"/>
                </a:solidFill>
                <a:latin typeface="微软雅黑"/>
              </a:rP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68172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D1B20"/>
                </a:solidFill>
                <a:latin typeface="Consolas"/>
              </a:rPr>
              <a:t>shuffle_desktop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6817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打乱桌面文件（记 manifest）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6817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7D5260"/>
                </a:solidFill>
                <a:latin typeface="微软雅黑"/>
              </a:rPr>
              <a:t>A 侧执行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66360"/>
            <a:ext cx="11082528" cy="512064"/>
          </a:xfrm>
          <a:prstGeom prst="roundRect">
            <a:avLst>
              <a:gd name="adj" fmla="val 28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3232" y="5294376"/>
            <a:ext cx="50292" cy="256032"/>
          </a:xfrm>
          <a:prstGeom prst="roundRect">
            <a:avLst>
              <a:gd name="adj" fmla="val 50000"/>
            </a:avLst>
          </a:prstGeom>
          <a:solidFill>
            <a:srgbClr val="7D5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266944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7D5260"/>
                </a:solidFill>
                <a:latin typeface="微软雅黑"/>
              </a:rPr>
              <a:t>L5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528523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D1B20"/>
                </a:solidFill>
                <a:latin typeface="Consolas"/>
              </a:rPr>
              <a:t>quarantine_files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28523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移动指定文件到隔离区（需事前授权）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28523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7D5260"/>
                </a:solidFill>
                <a:latin typeface="微软雅黑"/>
              </a:rPr>
              <a:t>A 侧执行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8704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49454F"/>
                </a:solidFill>
                <a:latin typeface="微软雅黑"/>
              </a:rPr>
              <a:t>L4 起才碰文件系统，且只在用户事前勾选授权 + 指定文件清单之后。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04 · 前后端分工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A 侧负责"判断"与"执行"，B 侧负责"表现"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两侧只通过两条契约通信：指令 JSON 与状态模型。前端不参与任何文件操作。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5358384" cy="3520440"/>
          </a:xfrm>
          <a:prstGeom prst="roundRect">
            <a:avLst>
              <a:gd name="adj" fmla="val 10000"/>
            </a:avLst>
          </a:prstGeom>
          <a:solidFill>
            <a:srgbClr val="EA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1005D"/>
                </a:solidFill>
                <a:latin typeface="微软雅黑"/>
              </a:rPr>
              <a:t>A 侧 · 后端 + Agent + 本地层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95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750A4"/>
                </a:solidFill>
                <a:latin typeface="微软雅黑"/>
              </a:rPr>
              <a:t>•  </a:t>
            </a:r>
            <a:r>
              <a:rPr sz="1250" b="0">
                <a:solidFill>
                  <a:srgbClr val="21005D"/>
                </a:solidFill>
                <a:latin typeface="微软雅黑"/>
              </a:rPr>
              <a:t>聊天待办提取（只用脱敏摘要）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92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750A4"/>
                </a:solidFill>
                <a:latin typeface="微软雅黑"/>
              </a:rPr>
              <a:t>•  </a:t>
            </a:r>
            <a:r>
              <a:rPr sz="1250" b="0">
                <a:solidFill>
                  <a:srgbClr val="21005D"/>
                </a:solidFill>
                <a:latin typeface="微软雅黑"/>
              </a:rPr>
              <a:t>摄像头 / 时间 → 状态估计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750A4"/>
                </a:solidFill>
                <a:latin typeface="微软雅黑"/>
              </a:rPr>
              <a:t>•  </a:t>
            </a:r>
            <a:r>
              <a:rPr sz="1250" b="0">
                <a:solidFill>
                  <a:srgbClr val="21005D"/>
                </a:solidFill>
                <a:latin typeface="微软雅黑"/>
              </a:rPr>
              <a:t>状态驱动拆小步（≤7 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78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750A4"/>
                </a:solidFill>
                <a:latin typeface="微软雅黑"/>
              </a:rPr>
              <a:t>•  </a:t>
            </a:r>
            <a:r>
              <a:rPr sz="1250" b="0">
                <a:solidFill>
                  <a:srgbClr val="21005D"/>
                </a:solidFill>
                <a:latin typeface="微软雅黑"/>
              </a:rPr>
              <a:t>升级决策：模型 + 物理闸门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085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750A4"/>
                </a:solidFill>
                <a:latin typeface="微软雅黑"/>
              </a:rPr>
              <a:t>•  </a:t>
            </a:r>
            <a:r>
              <a:rPr sz="1250" b="0">
                <a:solidFill>
                  <a:srgbClr val="21005D"/>
                </a:solidFill>
                <a:latin typeface="微软雅黑"/>
              </a:rPr>
              <a:t>文件执行：打乱 / 隔离 / 还原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383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750A4"/>
                </a:solidFill>
                <a:latin typeface="微软雅黑"/>
              </a:rPr>
              <a:t>•  </a:t>
            </a:r>
            <a:r>
              <a:rPr sz="1250" b="0">
                <a:solidFill>
                  <a:srgbClr val="21005D"/>
                </a:solidFill>
                <a:latin typeface="微软雅黑"/>
              </a:rPr>
              <a:t>审计：读了什么、依据什么、做了什么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103120"/>
            <a:ext cx="5358384" cy="3520440"/>
          </a:xfrm>
          <a:prstGeom prst="roundRect">
            <a:avLst>
              <a:gd name="adj" fmla="val 10000"/>
            </a:avLst>
          </a:prstGeom>
          <a:solidFill>
            <a:srgbClr val="F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359152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311D2A"/>
                </a:solidFill>
                <a:latin typeface="微软雅黑"/>
              </a:rPr>
              <a:t>B 侧 · 前端表现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8895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D5260"/>
                </a:solidFill>
                <a:latin typeface="微软雅黑"/>
              </a:rPr>
              <a:t>•  </a:t>
            </a:r>
            <a:r>
              <a:rPr sz="1250" b="0">
                <a:solidFill>
                  <a:srgbClr val="311D2A"/>
                </a:solidFill>
                <a:latin typeface="微软雅黑"/>
              </a:rPr>
              <a:t>提醒 UI、弹窗与倒计时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3192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D5260"/>
                </a:solidFill>
                <a:latin typeface="微软雅黑"/>
              </a:rPr>
              <a:t>•  </a:t>
            </a:r>
            <a:r>
              <a:rPr sz="1250" b="0">
                <a:solidFill>
                  <a:srgbClr val="311D2A"/>
                </a:solidFill>
                <a:latin typeface="微软雅黑"/>
              </a:rPr>
              <a:t>满屏虫子动画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D5260"/>
                </a:solidFill>
                <a:latin typeface="微软雅黑"/>
              </a:rPr>
              <a:t>•  </a:t>
            </a:r>
            <a:r>
              <a:rPr sz="1250" b="0">
                <a:solidFill>
                  <a:srgbClr val="311D2A"/>
                </a:solidFill>
                <a:latin typeface="微软雅黑"/>
              </a:rPr>
              <a:t>整机闪屏（L3）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178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D5260"/>
                </a:solidFill>
                <a:latin typeface="微软雅黑"/>
              </a:rPr>
              <a:t>•  </a:t>
            </a:r>
            <a:r>
              <a:rPr sz="1250" b="0">
                <a:solidFill>
                  <a:srgbClr val="311D2A"/>
                </a:solidFill>
                <a:latin typeface="微软雅黑"/>
              </a:rPr>
              <a:t>任务列表与小步进度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46085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D5260"/>
                </a:solidFill>
                <a:latin typeface="微软雅黑"/>
              </a:rPr>
              <a:t>•  </a:t>
            </a:r>
            <a:r>
              <a:rPr sz="1250" b="0">
                <a:solidFill>
                  <a:srgbClr val="311D2A"/>
                </a:solidFill>
                <a:latin typeface="微软雅黑"/>
              </a:rPr>
              <a:t>授权与「指定文件」设置页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50383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D5260"/>
                </a:solidFill>
                <a:latin typeface="微软雅黑"/>
              </a:rPr>
              <a:t>•  </a:t>
            </a:r>
            <a:r>
              <a:rPr sz="1250" b="0">
                <a:solidFill>
                  <a:srgbClr val="311D2A"/>
                </a:solidFill>
                <a:latin typeface="微软雅黑"/>
              </a:rPr>
              <a:t>可撤销入口、状态可视化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05 · 契约一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指令 JSON —— 唯一的下发格式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字段与枚举先定死，不许擅改；变更必须显式记录。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84831"/>
            <a:ext cx="6675120" cy="3611880"/>
          </a:xfrm>
          <a:prstGeom prst="roundRect">
            <a:avLst>
              <a:gd name="adj" fmla="val 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6126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49454F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D1B20"/>
                </a:solidFill>
                <a:latin typeface="Consolas"/>
              </a:rPr>
              <a:t>  "id": "ins_01",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6750A4"/>
                </a:solidFill>
                <a:latin typeface="Consolas"/>
              </a:rPr>
              <a:t>  "level": "L2",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6750A4"/>
                </a:solidFill>
                <a:latin typeface="Consolas"/>
              </a:rPr>
              <a:t>  "action": "spawn_bugs",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D1B20"/>
                </a:solidFill>
                <a:latin typeface="Consolas"/>
              </a:rPr>
              <a:t>  "taskId": "task_math_01",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1D1B20"/>
                </a:solidFill>
                <a:latin typeface="Consolas"/>
              </a:rPr>
              <a:t>  "step": { "index": 1, "label": "下床", "stateAtPlan": "躺床" },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49454F"/>
                </a:solidFill>
                <a:latin typeface="Consolas"/>
              </a:rPr>
              <a:t>  "issuedAt": "2026-10-16T20:30:00+08:00",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49454F"/>
                </a:solidFill>
                <a:latin typeface="Consolas"/>
              </a:rPr>
              <a:t>  "expiresAt": "2026-10-16T20:35:00+08:00",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2E6B4F"/>
                </a:solidFill>
                <a:latin typeface="Consolas"/>
              </a:rPr>
              <a:t>  "reversible": true,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49454F"/>
                </a:solidFill>
                <a:latin typeface="Consolas"/>
              </a:rPr>
              <a:t>  "manifestId": null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50">
                <a:solidFill>
                  <a:srgbClr val="49454F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2084831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B20"/>
                </a:solidFill>
                <a:latin typeface="微软雅黑"/>
              </a:rPr>
              <a:t>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16368" y="2450592"/>
            <a:ext cx="4114800" cy="713232"/>
          </a:xfrm>
          <a:prstGeom prst="roundRect">
            <a:avLst>
              <a:gd name="adj" fmla="val 1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5824" y="2523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6750A4"/>
                </a:solidFill>
                <a:latin typeface="微软雅黑"/>
              </a:rPr>
              <a:t>7 种动作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27706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49454F"/>
                </a:solidFill>
                <a:latin typeface="微软雅黑"/>
              </a:rPr>
              <a:t>notify / popup_countdown / spawn_bugs / screen_flash / shuffle_desktop / quarantine_files / revoke_all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3273552"/>
            <a:ext cx="4114800" cy="713232"/>
          </a:xfrm>
          <a:prstGeom prst="roundRect">
            <a:avLst>
              <a:gd name="adj" fmla="val 1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33467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6750A4"/>
                </a:solidFill>
                <a:latin typeface="微软雅黑"/>
              </a:rPr>
              <a:t>可逆优先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359359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49454F"/>
                </a:solidFill>
                <a:latin typeface="微软雅黑"/>
              </a:rPr>
              <a:t>reversible 标记 + manifestId 回链，任何时刻能还原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8" y="4096512"/>
            <a:ext cx="4114800" cy="713232"/>
          </a:xfrm>
          <a:prstGeom prst="roundRect">
            <a:avLst>
              <a:gd name="adj" fmla="val 1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41696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6750A4"/>
                </a:solidFill>
                <a:latin typeface="微软雅黑"/>
              </a:rPr>
              <a:t>payload 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41655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49454F"/>
                </a:solidFill>
                <a:latin typeface="微软雅黑"/>
              </a:rPr>
              <a:t>quarantine_files → targets[]；shuffle_desktop → targetDir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4919472"/>
            <a:ext cx="4114800" cy="713232"/>
          </a:xfrm>
          <a:prstGeom prst="roundRect">
            <a:avLst>
              <a:gd name="adj" fmla="val 1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5824" y="49926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6750A4"/>
                </a:solidFill>
                <a:latin typeface="微软雅黑"/>
              </a:rPr>
              <a:t>校验必做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523951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49454F"/>
                </a:solidFill>
                <a:latin typeface="微软雅黑"/>
              </a:rPr>
              <a:t>id / level / action / 时间戳 / step.index；不合法抛错并附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06 · 契约二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状态模型 —— A → B 的唯一输入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前端靠 explain / evidence 把冷冰冰的指令还原成人话。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84831"/>
            <a:ext cx="5358384" cy="1874519"/>
          </a:xfrm>
          <a:prstGeom prst="roundRect">
            <a:avLst>
              <a:gd name="adj" fmla="val 10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750A4"/>
                </a:solidFill>
                <a:latin typeface="微软雅黑"/>
              </a:rPr>
              <a:t>六个状态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0662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• </a:t>
            </a:r>
            <a:r>
              <a:rPr sz="1200" b="0">
                <a:solidFill>
                  <a:srgbClr val="1D1B20"/>
                </a:solidFill>
                <a:latin typeface="微软雅黑"/>
              </a:rPr>
              <a:t>lying_bed · 躺床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06624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• </a:t>
            </a:r>
            <a:r>
              <a:rPr sz="1200" b="0">
                <a:solidFill>
                  <a:srgbClr val="1D1B20"/>
                </a:solidFill>
                <a:latin typeface="微软雅黑"/>
              </a:rPr>
              <a:t>seated_desk · 在桌前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• </a:t>
            </a:r>
            <a:r>
              <a:rPr sz="1200" b="0">
                <a:solidFill>
                  <a:srgbClr val="1D1B20"/>
                </a:solidFill>
                <a:latin typeface="微软雅黑"/>
              </a:rPr>
              <a:t>standing_or_moving · 走动中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90672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• </a:t>
            </a:r>
            <a:r>
              <a:rPr sz="1200" b="0">
                <a:solidFill>
                  <a:srgbClr val="1D1B20"/>
                </a:solidFill>
                <a:latin typeface="微软雅黑"/>
              </a:rPr>
              <a:t>away · 离开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• </a:t>
            </a:r>
            <a:r>
              <a:rPr sz="1200" b="0">
                <a:solidFill>
                  <a:srgbClr val="1D1B20"/>
                </a:solidFill>
                <a:latin typeface="微软雅黑"/>
              </a:rPr>
              <a:t>learning · 学习中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• </a:t>
            </a:r>
            <a:r>
              <a:rPr sz="1200" b="0">
                <a:solidFill>
                  <a:srgbClr val="1D1B20"/>
                </a:solidFill>
                <a:latin typeface="微软雅黑"/>
              </a:rPr>
              <a:t>unknown · 未知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084831"/>
            <a:ext cx="5358384" cy="1874519"/>
          </a:xfrm>
          <a:prstGeom prst="roundRect">
            <a:avLst>
              <a:gd name="adj" fmla="val 10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3042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6750A4"/>
                </a:solidFill>
                <a:latin typeface="微软雅黑"/>
              </a:rPr>
              <a:t>必须可解释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724912"/>
            <a:ext cx="4800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1D1B20"/>
                </a:solidFill>
                <a:latin typeface="微软雅黑"/>
              </a:rPr>
              <a:t>"因为摄像头判定为床区域卧姿，且已 18 分钟无操作。"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49454F"/>
                </a:solidFill>
                <a:latin typeface="微软雅黑"/>
              </a:rPr>
              <a:t>evidence 带证据链，explain 给成人话。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60520"/>
            <a:ext cx="11082528" cy="1600200"/>
          </a:xfrm>
          <a:prstGeom prst="roundRect">
            <a:avLst>
              <a:gd name="adj" fmla="val 14000"/>
            </a:avLst>
          </a:prstGeom>
          <a:solidFill>
            <a:srgbClr val="D7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1">
                <a:solidFill>
                  <a:srgbClr val="0F3D28"/>
                </a:solidFill>
                <a:latin typeface="微软雅黑"/>
              </a:rPr>
              <a:t>三条安全规则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0F3D28"/>
                </a:solidFill>
                <a:latin typeface="微软雅黑"/>
              </a:rPr>
              <a:t>① unknown 是合法且常用的状态 —— 宁可 unknown 也不瞎猜；低置信度不拆激进小步、不进强制升级。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0F3D28"/>
                </a:solidFill>
                <a:latin typeface="微软雅黑"/>
              </a:rPr>
              <a:t>② 摄像头证据不能单独触发 L2+ —— 必须叠加时间规则或用户确认。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>
                <a:solidFill>
                  <a:srgbClr val="0F3D28"/>
                </a:solidFill>
                <a:latin typeface="微软雅黑"/>
              </a:rPr>
              <a:t>③ 用户手动纠正（source=manual）权重最高，直接覆盖自动判定。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07 · 设计红线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模型可以决策，但数字只能算出来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强制措施必须可预测、可解释 —— 所以把"决定权"和"执行权"分开。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7680960" cy="640080"/>
          </a:xfrm>
          <a:prstGeom prst="roundRect">
            <a:avLst>
              <a:gd name="adj" fmla="val 2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45720" cy="2743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6771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闸门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6771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D1B20"/>
                </a:solidFill>
                <a:latin typeface="微软雅黑"/>
              </a:rPr>
              <a:t>完成信号优先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76856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任何一步完成 → 无条件撤销全部强制，模型说了不算。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52927"/>
            <a:ext cx="7680960" cy="640080"/>
          </a:xfrm>
          <a:prstGeom prst="roundRect">
            <a:avLst>
              <a:gd name="adj" fmla="val 2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35807"/>
            <a:ext cx="45720" cy="2743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17519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闸门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017519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D1B20"/>
                </a:solidFill>
                <a:latin typeface="微软雅黑"/>
              </a:rPr>
              <a:t>时间门禁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26663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距上次升级不足该级间隔，不许升；禁止连跳。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602735"/>
            <a:ext cx="7680960" cy="640080"/>
          </a:xfrm>
          <a:prstGeom prst="roundRect">
            <a:avLst>
              <a:gd name="adj" fmla="val 2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785615"/>
            <a:ext cx="45720" cy="2743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767327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闸门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767327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D1B20"/>
                </a:solidFill>
                <a:latin typeface="微软雅黑"/>
              </a:rPr>
              <a:t>单日上限 + 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776471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单日强制上限 4 次；L5 隔离需事前授权，未授权封顶 L4。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52544"/>
            <a:ext cx="7680960" cy="640080"/>
          </a:xfrm>
          <a:prstGeom prst="roundRect">
            <a:avLst>
              <a:gd name="adj" fmla="val 2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535424"/>
            <a:ext cx="45720" cy="2743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517136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闸门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51713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D1B20"/>
                </a:solidFill>
                <a:latin typeface="微软雅黑"/>
              </a:rPr>
              <a:t>动作不由模型选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526280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action 由 level 映射表决定，模型不能自选动作。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102352"/>
            <a:ext cx="7680960" cy="640080"/>
          </a:xfrm>
          <a:prstGeom prst="roundRect">
            <a:avLst>
              <a:gd name="adj" fmla="val 2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285232"/>
            <a:ext cx="45720" cy="2743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66944"/>
            <a:ext cx="822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闸门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26694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D1B20"/>
                </a:solidFill>
                <a:latin typeface="微软雅黑"/>
              </a:rPr>
              <a:t>清单不由模型给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276088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隔离目标只来自用户事前指定的文件清单。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22208" y="2103120"/>
            <a:ext cx="3127248" cy="3639312"/>
          </a:xfrm>
          <a:prstGeom prst="roundRect">
            <a:avLst>
              <a:gd name="adj" fmla="val 10000"/>
            </a:avLst>
          </a:prstGeom>
          <a:solidFill>
            <a:srgbClr val="EA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96528" y="2340864"/>
            <a:ext cx="2697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1005D"/>
                </a:solidFill>
                <a:latin typeface="微软雅黑"/>
              </a:rPr>
              <a:t>为什么这样分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" b="0">
                <a:solidFill>
                  <a:srgbClr val="1D1B20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1005D"/>
                </a:solidFill>
                <a:latin typeface="微软雅黑"/>
              </a:rPr>
              <a:t>LLM 负责"怎么劝"——语气、时机、拆步；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" b="0">
                <a:solidFill>
                  <a:srgbClr val="1D1B20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21005D"/>
                </a:solidFill>
                <a:latin typeface="微软雅黑"/>
              </a:rPr>
              <a:t>确定性代码负责"能不能动"——数字、阈值、文件操作。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" b="0">
                <a:solidFill>
                  <a:srgbClr val="1D1B20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21005D"/>
                </a:solidFill>
                <a:latin typeface="微软雅黑"/>
              </a:rPr>
              <a:t>这样任何一次强制行为都能复盘到具体规则，而不是"模型当时觉得"。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08 · 安全底座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永不删除，只移动；任何操作都能逐字节还原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用户的信任来自"我随时能收回来"。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2606040" cy="2057400"/>
          </a:xfrm>
          <a:prstGeom prst="roundRect">
            <a:avLst>
              <a:gd name="adj" fmla="val 13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359152"/>
            <a:ext cx="29260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78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B20"/>
                </a:solidFill>
                <a:latin typeface="微软雅黑"/>
              </a:rPr>
              <a:t>写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35808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50" b="0">
                <a:solidFill>
                  <a:srgbClr val="49454F"/>
                </a:solidFill>
                <a:latin typeface="微软雅黑"/>
              </a:rPr>
              <a:t>操作前先把
原路径 ↔ 新路径
写进账本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999232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2606040" cy="2057400"/>
          </a:xfrm>
          <a:prstGeom prst="roundRect">
            <a:avLst>
              <a:gd name="adj" fmla="val 13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03320" y="2359152"/>
            <a:ext cx="292608" cy="50292"/>
          </a:xfrm>
          <a:prstGeom prst="roundRect">
            <a:avLst>
              <a:gd name="adj" fmla="val 50000"/>
            </a:avLst>
          </a:prstGeom>
          <a:solidFill>
            <a:srgbClr val="625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578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B20"/>
                </a:solidFill>
                <a:latin typeface="微软雅黑"/>
              </a:rPr>
              <a:t>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35808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50" b="0">
                <a:solidFill>
                  <a:srgbClr val="49454F"/>
                </a:solidFill>
                <a:latin typeface="微软雅黑"/>
              </a:rPr>
              <a:t>打乱 = 重命名
隔离 = 移动到
隔离区（加密）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2999232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148840"/>
            <a:ext cx="2606040" cy="2057400"/>
          </a:xfrm>
          <a:prstGeom prst="roundRect">
            <a:avLst>
              <a:gd name="adj" fmla="val 13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2" y="2359152"/>
            <a:ext cx="292608" cy="50292"/>
          </a:xfrm>
          <a:prstGeom prst="roundRect">
            <a:avLst>
              <a:gd name="adj" fmla="val 50000"/>
            </a:avLst>
          </a:prstGeom>
          <a:solidFill>
            <a:srgbClr val="625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578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B20"/>
                </a:solidFill>
                <a:latin typeface="微软雅黑"/>
              </a:rPr>
              <a:t>逐条回写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035808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50" b="0">
                <a:solidFill>
                  <a:srgbClr val="49454F"/>
                </a:solidFill>
                <a:latin typeface="微软雅黑"/>
              </a:rPr>
              <a:t>每完成一条
就回写账本
崩溃也能还原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2999232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79747E"/>
                </a:solidFill>
                <a:latin typeface="微软雅黑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2148840"/>
            <a:ext cx="2606040" cy="2057400"/>
          </a:xfrm>
          <a:prstGeom prst="roundRect">
            <a:avLst>
              <a:gd name="adj" fmla="val 13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27464" y="2359152"/>
            <a:ext cx="292608" cy="50292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7464" y="2578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B20"/>
                </a:solidFill>
                <a:latin typeface="微软雅黑"/>
              </a:rPr>
              <a:t>revoke_all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3035808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150" b="0">
                <a:solidFill>
                  <a:srgbClr val="49454F"/>
                </a:solidFill>
                <a:latin typeface="微软雅黑"/>
              </a:rPr>
              <a:t>一键撤销
恢复原位
校验 sha256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480560"/>
            <a:ext cx="11082528" cy="1280160"/>
          </a:xfrm>
          <a:prstGeom prst="roundRect">
            <a:avLst>
              <a:gd name="adj" fmla="val 18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00016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6750A4"/>
                </a:solidFill>
                <a:latin typeface="微软雅黑"/>
              </a:rPr>
              <a:t>其他约束：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49454F"/>
                </a:solidFill>
                <a:latin typeface="微软雅黑"/>
              </a:rPr>
              <a:t>只操作授权目录之内（拒绝系统目录 / 盘符根 / 用户主目录本身）；restore 幂等，原位被占记 conflict 不覆盖；跳过符号链接与点开头文件。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09 · 系统组成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六个环节，各自独立可测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每个模块都有对应的测试套件；改一处不会悄悄弄坏别处。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84831"/>
            <a:ext cx="3456432" cy="1554480"/>
          </a:xfrm>
          <a:prstGeom prst="roundRect">
            <a:avLst>
              <a:gd name="adj" fmla="val 14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304287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8716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B20"/>
                </a:solidFill>
                <a:latin typeface="微软雅黑"/>
              </a:rPr>
              <a:t>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16351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6750A4"/>
                </a:solidFill>
                <a:latin typeface="Consolas"/>
              </a:rPr>
              <a:t>chat-sense / state-sensor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09067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聊天待办提取、摄像头 + 时间规则状态估计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084831"/>
            <a:ext cx="3456432" cy="1554480"/>
          </a:xfrm>
          <a:prstGeom prst="roundRect">
            <a:avLst>
              <a:gd name="adj" fmla="val 14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2304287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48716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B20"/>
                </a:solidFill>
                <a:latin typeface="微软雅黑"/>
              </a:rPr>
              <a:t>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816351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6750A4"/>
                </a:solidFill>
                <a:latin typeface="Consolas"/>
              </a:rPr>
              <a:t>task-planner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09067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状态驱动拆小步 + 状态变化重排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5" y="2084831"/>
            <a:ext cx="3456432" cy="1554480"/>
          </a:xfrm>
          <a:prstGeom prst="roundRect">
            <a:avLst>
              <a:gd name="adj" fmla="val 14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6175" y="2304287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248716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B20"/>
                </a:solidFill>
                <a:latin typeface="微软雅黑"/>
              </a:rPr>
              <a:t>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816351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6750A4"/>
                </a:solidFill>
                <a:latin typeface="Consolas"/>
              </a:rPr>
              <a:t>escalation + llm/roles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09067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模型决策，物理闸门兜底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867911"/>
            <a:ext cx="3456432" cy="1554480"/>
          </a:xfrm>
          <a:prstGeom prst="roundRect">
            <a:avLst>
              <a:gd name="adj" fmla="val 14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4087367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27024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B20"/>
                </a:solidFill>
                <a:latin typeface="微软雅黑"/>
              </a:rPr>
              <a:t>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599431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6750A4"/>
                </a:solidFill>
                <a:latin typeface="Consolas"/>
              </a:rPr>
              <a:t>executor / manifest / instructions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87375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文件操作、可逆账本、指令总线与审计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3867911"/>
            <a:ext cx="3456432" cy="1554480"/>
          </a:xfrm>
          <a:prstGeom prst="roundRect">
            <a:avLst>
              <a:gd name="adj" fmla="val 14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53712" y="4087367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27024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B20"/>
                </a:solidFill>
                <a:latin typeface="微软雅黑"/>
              </a:rPr>
              <a:t>学习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599431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6750A4"/>
                </a:solidFill>
                <a:latin typeface="Consolas"/>
              </a:rPr>
              <a:t>learning-kernel + learning/store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87375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间隔重复调度内核与学习记录存储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91855" y="3867911"/>
            <a:ext cx="3456432" cy="1554480"/>
          </a:xfrm>
          <a:prstGeom prst="roundRect">
            <a:avLst>
              <a:gd name="adj" fmla="val 14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66175" y="4087367"/>
            <a:ext cx="274320" cy="45720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5" y="427024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B20"/>
                </a:solidFill>
                <a:latin typeface="微软雅黑"/>
              </a:rPr>
              <a:t>审计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4599431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6750A4"/>
                </a:solidFill>
                <a:latin typeface="Consolas"/>
              </a:rPr>
              <a:t>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487375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审计查询、用户纠正、误判申诉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7607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6B4F"/>
                </a:solidFill>
                <a:latin typeface="微软雅黑"/>
              </a:rPr>
              <a:t>测试：13 套 / 13 通过 / 0 失败（node run-tests.js，零第三方依赖）。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78440" y="63459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79747E"/>
                </a:solidFill>
                <a:latin typeface="微软雅黑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459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79747E"/>
                </a:solidFill>
                <a:latin typeface="微软雅黑"/>
              </a:rPr>
              <a:t>自律助手 · 项目介绍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75488"/>
            <a:ext cx="384048" cy="50292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750A4"/>
                </a:solidFill>
                <a:latin typeface="微软雅黑"/>
              </a:rPr>
              <a:t>10 · 现在的状态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D1B20"/>
                </a:solidFill>
                <a:latin typeface="微软雅黑"/>
              </a:rPr>
              <a:t>已经能跑通的部分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49454F"/>
                </a:solidFill>
                <a:latin typeface="微软雅黑"/>
              </a:rPr>
              <a:t>以下是本仓库实际可复跑的验证结果，不含推测。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11082528" cy="530352"/>
          </a:xfrm>
          <a:prstGeom prst="roundRect">
            <a:avLst>
              <a:gd name="adj" fmla="val 2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203703"/>
            <a:ext cx="45720" cy="256032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85415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D1B20"/>
                </a:solidFill>
                <a:latin typeface="微软雅黑"/>
              </a:rPr>
              <a:t>指令通道 + 可逆账本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99131"/>
            <a:ext cx="7589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下发 / 确认 / 完成 / 撤销全链路，sha256 逐字节校验还原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06624"/>
            <a:ext cx="11082528" cy="530352"/>
          </a:xfrm>
          <a:prstGeom prst="roundRect">
            <a:avLst>
              <a:gd name="adj" fmla="val 26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843784"/>
            <a:ext cx="45720" cy="256032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2549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D1B20"/>
                </a:solidFill>
                <a:latin typeface="微软雅黑"/>
              </a:rPr>
              <a:t>六级升级状态机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39212"/>
            <a:ext cx="7589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L0→L5 逐级触发、时间门禁、单日上限、授权封顶、审计回链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46703"/>
            <a:ext cx="11082528" cy="530352"/>
          </a:xfrm>
          <a:prstGeom prst="roundRect">
            <a:avLst>
              <a:gd name="adj" fmla="val 2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483863"/>
            <a:ext cx="45720" cy="256032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65575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D1B20"/>
                </a:solidFill>
                <a:latin typeface="微软雅黑"/>
              </a:rPr>
              <a:t>状态估计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79291"/>
            <a:ext cx="7589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四类场景判定 + 低置信度降级 + 摄像头证据不单独触发 L2+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986783"/>
            <a:ext cx="11082528" cy="530352"/>
          </a:xfrm>
          <a:prstGeom prst="roundRect">
            <a:avLst>
              <a:gd name="adj" fmla="val 26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4123943"/>
            <a:ext cx="45720" cy="256032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05655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D1B20"/>
                </a:solidFill>
                <a:latin typeface="微软雅黑"/>
              </a:rPr>
              <a:t>任务拆步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119371"/>
            <a:ext cx="7589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≤7 步、每步 ≤3 分钟、第一步从当前状态出发、状态变化重排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26864"/>
            <a:ext cx="11082528" cy="530352"/>
          </a:xfrm>
          <a:prstGeom prst="roundRect">
            <a:avLst>
              <a:gd name="adj" fmla="val 26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4764024"/>
            <a:ext cx="45720" cy="256032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74573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D1B20"/>
                </a:solidFill>
                <a:latin typeface="微软雅黑"/>
              </a:rPr>
              <a:t>本地执行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759452"/>
            <a:ext cx="7589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打乱 / 隔离 / 还原幂等，冲突不覆盖，崩溃可还原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266944"/>
            <a:ext cx="11082528" cy="530352"/>
          </a:xfrm>
          <a:prstGeom prst="roundRect">
            <a:avLst>
              <a:gd name="adj" fmla="val 26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5404104"/>
            <a:ext cx="45720" cy="256032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8581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D1B20"/>
                </a:solidFill>
                <a:latin typeface="微软雅黑"/>
              </a:rPr>
              <a:t>学习子系统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399532"/>
            <a:ext cx="7589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9454F"/>
                </a:solidFill>
                <a:latin typeface="微软雅黑"/>
              </a:rPr>
              <a:t>间隔重复调度内核 + 学习记录存储（跨进程 JSON 边界调用）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870448"/>
            <a:ext cx="11082528" cy="475488"/>
          </a:xfrm>
          <a:prstGeom prst="roundRect">
            <a:avLst>
              <a:gd name="adj" fmla="val 30000"/>
            </a:avLst>
          </a:prstGeom>
          <a:solidFill>
            <a:srgbClr val="EA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97103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1005D"/>
                </a:solidFill>
                <a:latin typeface="微软雅黑"/>
              </a:rPr>
              <a:t>接入真实摄像头后端与真实模型 API 后，即可端到端试用。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0000"/>
            </a:avLst>
          </a:prstGeom>
          <a:solidFill>
            <a:srgbClr val="EAD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40680" y="1371600"/>
            <a:ext cx="1325880" cy="64008"/>
          </a:xfrm>
          <a:prstGeom prst="roundRect">
            <a:avLst>
              <a:gd name="adj" fmla="val 50000"/>
            </a:avLst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21005D"/>
                </a:solidFill>
                <a:latin typeface="微软雅黑"/>
              </a:rPr>
              <a:t>让"知道该做"变成"已经在做"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78892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21005D"/>
                </a:solidFill>
                <a:latin typeface="微软雅黑"/>
              </a:rPr>
              <a:t>判断交给模型，动文件交给规则；</a:t>
            </a:r>
          </a:p>
          <a:p>
            <a:pPr algn="ctr">
              <a:lnSpc>
                <a:spcPct val="145000"/>
              </a:lnSpc>
              <a:spcAft>
                <a:spcPts val="600"/>
              </a:spcAft>
            </a:pPr>
            <a:r>
              <a:rPr sz="1800" b="0">
                <a:solidFill>
                  <a:srgbClr val="21005D"/>
                </a:solidFill>
                <a:latin typeface="微软雅黑"/>
              </a:rPr>
              <a:t>每一步都留退路，每一级都讲得出理由。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4389120"/>
            <a:ext cx="4754880" cy="868680"/>
          </a:xfrm>
          <a:prstGeom prst="roundRect">
            <a:avLst>
              <a:gd name="adj" fmla="val 22000"/>
            </a:avLst>
          </a:prstGeom>
          <a:solidFill>
            <a:srgbClr val="FF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45994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6750A4"/>
                </a:solidFill>
                <a:latin typeface="微软雅黑"/>
              </a:rPr>
              <a:t>13 套测试全绿 · 100% 可还原 · 全程可审计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1005D"/>
                </a:solidFill>
                <a:latin typeface="微软雅黑"/>
              </a:rPr>
              <a:t>陈鹏旭 · 产品与 AI 学习作品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